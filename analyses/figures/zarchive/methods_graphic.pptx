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1.xml"/><Relationship Id="rId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B40B8-0027-1BAC-F716-6DA10D71B4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FFCA3D-CE5A-FED1-ADBA-995D5C738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DE603-5B1C-7106-83DA-AE1D9988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5844-241C-0B0D-A88D-5BC6C9D6A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BC98-BEC2-69B3-8ECC-7FEC8619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9347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66FA7-53C4-B24E-3FFE-8FEBC2E9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76EE9-99A0-0119-3205-43E610AF3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930A0-3573-719D-073C-FE87C171E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B42EC-D8FF-58C5-9B1F-4DBDE994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4A0C9-115A-A4FA-5395-33376D6C7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9281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C534-6E74-E045-A4B6-E3C931A3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007C2-36EA-B911-09F9-0BD70A166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59D52-5058-35DC-9EF9-A0DDB38D5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C0597-AADF-B6AF-37B7-4877D66E5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BC054-02D7-54FC-2317-508B3593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355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2065-2931-D8CD-3D7E-C7807C96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532B3-0914-6448-FC5F-8501DB62C8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1B951-EF1F-3543-6B7B-246A2BFC2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A45231-0171-83BC-CBDB-097431AA7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FD01B-D99C-6E94-031F-350BE980B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204D6-3815-AA06-8AB4-D6EAF23A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657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CA244-951A-E2DE-FB2F-5B866CFA3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8F3956-067D-E247-BFF7-919DBDE04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713F7-7955-4B0B-EF2B-00B0559F7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BF8B2-728A-ADEB-B79E-806E7154FB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AB39D5-32E9-0D1C-3A36-1BDE2FB0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B554AD-7241-B4E9-A76E-805426B50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5EBE61-41EA-2155-F69D-167403AF0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1A7A0-2ECE-2E09-2414-DC2AF0D6C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03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A6AE-B162-1801-6092-186BEACC5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54CD63-C7D1-58C6-394A-291315E8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3F29E7-3FC7-6E77-04EB-196B1461B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2469A-C634-1C57-5308-0092C766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028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ACF0CC-7F93-66D9-7252-2E0EB7A4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FD1196-3569-0765-2780-A52F59062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6250-DDB4-7B75-010F-4472E18C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150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86117-A1D2-5988-C9CB-2DB98DC5F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1153C-2CD4-D53A-C790-EF706CAA5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0B329-064F-84A7-CE90-79E53F092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F428D1-776A-F82F-1F47-D82842F08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1E63-034B-2627-2932-DDFA42985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7D172-5846-7268-934E-1D0BC365A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291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23C0-1084-D34F-391A-491CAAE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1A2CB5-23E6-DBE2-979F-58A0ED32C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045C35-DF97-3A19-68FB-62C5B98FA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C297D-144D-4BCD-DAEE-1F0FC7473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7274B-52B7-361C-D23E-82E87F96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631B9B-7116-F65E-EAFF-A6C1C732B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939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32DB-CEB4-11B3-A2DE-D403AA4B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BDE8FF-85D1-1AF9-AE82-523450650E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13DFA-EFAD-0EBF-DBC1-5002517C1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D89DE-5938-B433-EA64-246775295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1D0C0-25E4-C640-0EEB-6ADE6F9EB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47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1F7E8D-D37E-7D46-8366-C6EA173EB8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F66808-4A67-36BD-08BF-72CEEA6FC8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C8DB2-0A11-96F1-2BC5-337773A1D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A23B0-64F9-56A0-E93C-03DC8BBBB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D195A-519F-7E19-9BD2-06566112A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0293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DB40B8-0027-1BAC-F716-6DA10D71B4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FFCA3D-CE5A-FED1-ADBA-995D5C738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4DE603-5B1C-7106-83DA-AE1D99885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105844-241C-0B0D-A88D-5BC6C9D6A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BC98-BEC2-69B3-8ECC-7FEC86198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4828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66FA7-53C4-B24E-3FFE-8FEBC2E9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C76EE9-99A0-0119-3205-43E610AF34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930A0-3573-719D-073C-FE87C171E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B42EC-D8FF-58C5-9B1F-4DBDE994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E4A0C9-115A-A4FA-5395-33376D6C71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4716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C534-6E74-E045-A4B6-E3C931A3B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7007C2-36EA-B911-09F9-0BD70A166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659D52-5058-35DC-9EF9-A0DDB38D5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4C0597-AADF-B6AF-37B7-4877D66E5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9BC054-02D7-54FC-2317-508B3593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60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2065-2931-D8CD-3D7E-C7807C96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E532B3-0914-6448-FC5F-8501DB62C8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01B951-EF1F-3543-6B7B-246A2BFC24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A45231-0171-83BC-CBDB-097431AA7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FD01B-D99C-6E94-031F-350BE980B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A204D6-3815-AA06-8AB4-D6EAF23AA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7998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CA244-951A-E2DE-FB2F-5B866CFA3C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8F3956-067D-E247-BFF7-919DBDE04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D713F7-7955-4B0B-EF2B-00B0559F79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6BF8B2-728A-ADEB-B79E-806E7154FB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AB39D5-32E9-0D1C-3A36-1BDE2FB02C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B554AD-7241-B4E9-A76E-805426B50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A5EBE61-41EA-2155-F69D-167403AF0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1A7A0-2ECE-2E09-2414-DC2AF0D6C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62393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7A6AE-B162-1801-6092-186BEACC5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54CD63-C7D1-58C6-394A-291315E8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3F29E7-3FC7-6E77-04EB-196B1461B8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D2469A-C634-1C57-5308-0092C766D6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8432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ACF0CC-7F93-66D9-7252-2E0EB7A49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FD1196-3569-0765-2780-A52F59062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276250-DDB4-7B75-010F-4472E18C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86117-A1D2-5988-C9CB-2DB98DC5F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1153C-2CD4-D53A-C790-EF706CAA5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0B329-064F-84A7-CE90-79E53F0924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F428D1-776A-F82F-1F47-D82842F08D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51E63-034B-2627-2932-DDFA42985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37D172-5846-7268-934E-1D0BC365A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37948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D23C0-1084-D34F-391A-491CAAE95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1A2CB5-23E6-DBE2-979F-58A0ED32C2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045C35-DF97-3A19-68FB-62C5B98FA5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EC297D-144D-4BCD-DAEE-1F0FC74739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57274B-52B7-361C-D23E-82E87F96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631B9B-7116-F65E-EAFF-A6C1C732B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21367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A32DB-CEB4-11B3-A2DE-D403AA4BD2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BDE8FF-85D1-1AF9-AE82-523450650E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13DFA-EFAD-0EBF-DBC1-5002517C1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D89DE-5938-B433-EA64-246775295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1D0C0-25E4-C640-0EEB-6ADE6F9EB4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2670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1F7E8D-D37E-7D46-8366-C6EA173EB8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F66808-4A67-36BD-08BF-72CEEA6FC8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C8DB2-0A11-96F1-2BC5-337773A1D6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BA23B0-64F9-56A0-E93C-03DC8BBBB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D195A-519F-7E19-9BD2-06566112A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5887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90D20E-1E12-8B82-E1BA-0EC885B1B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D7CD5-9B01-9CD8-6097-4208FB6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96952-FC4F-F6CB-4E74-3F77D04F1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8BAFE-C414-683A-E18D-D581DD3D4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0F441-75F7-83C5-CA7E-44D61F5EA3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4390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790D20E-1E12-8B82-E1BA-0EC885B1B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FD7CD5-9B01-9CD8-6097-4208FB64E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C96952-FC4F-F6CB-4E74-3F77D04F1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81251C-4CE6-7E4F-AA1B-7F251BD1720E}" type="datetimeFigureOut">
              <a:rPr lang="en-US" smtClean="0"/>
              <a:t>2/3/26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8BAFE-C414-683A-E18D-D581DD3D47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00F441-75F7-83C5-CA7E-44D61F5EA3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0D99A6-FA18-274D-8061-E4AE343153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824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A082F42-0A17-1EF5-D383-61EA8F2614E1}"/>
              </a:ext>
            </a:extLst>
          </p:cNvPr>
          <p:cNvSpPr/>
          <p:nvPr/>
        </p:nvSpPr>
        <p:spPr>
          <a:xfrm>
            <a:off x="52575" y="2649867"/>
            <a:ext cx="2186107" cy="155826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Randomly selects 10 FIA plots to be the Project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B21E117-6AA5-836C-6E85-B2B4BB15D5AD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1872079" y="514312"/>
            <a:ext cx="1392224" cy="2353818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9F0FF0B-5A8A-F995-1D7A-CEDCD02D5F2C}"/>
              </a:ext>
            </a:extLst>
          </p:cNvPr>
          <p:cNvCxnSpPr>
            <a:cxnSpLocks/>
            <a:stCxn id="4" idx="6"/>
            <a:endCxn id="9" idx="1"/>
          </p:cNvCxnSpPr>
          <p:nvPr/>
        </p:nvCxnSpPr>
        <p:spPr>
          <a:xfrm flipV="1">
            <a:off x="2238682" y="2210088"/>
            <a:ext cx="1025621" cy="1218912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885066C-3753-C2F9-E428-A00157F001A7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1872079" y="3888859"/>
            <a:ext cx="1392225" cy="2358234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B011433-F8C7-6CD3-104D-B79320989F7F}"/>
              </a:ext>
            </a:extLst>
          </p:cNvPr>
          <p:cNvSpPr/>
          <p:nvPr/>
        </p:nvSpPr>
        <p:spPr>
          <a:xfrm>
            <a:off x="3264303" y="124988"/>
            <a:ext cx="2175641" cy="778648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Single Model, Static BAU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8F13FD-4DBC-1885-8004-061802076C30}"/>
              </a:ext>
            </a:extLst>
          </p:cNvPr>
          <p:cNvSpPr/>
          <p:nvPr/>
        </p:nvSpPr>
        <p:spPr>
          <a:xfrm>
            <a:off x="3264303" y="1820776"/>
            <a:ext cx="2175640" cy="778623"/>
          </a:xfrm>
          <a:prstGeom prst="rect">
            <a:avLst/>
          </a:prstGeom>
          <a:solidFill>
            <a:srgbClr val="ECC03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Blended Model, Static BAU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748866-7826-CB04-2033-626F08D838FC}"/>
              </a:ext>
            </a:extLst>
          </p:cNvPr>
          <p:cNvSpPr/>
          <p:nvPr/>
        </p:nvSpPr>
        <p:spPr>
          <a:xfrm>
            <a:off x="3264304" y="5857781"/>
            <a:ext cx="2175640" cy="77862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Measured Blended, Dynamic BAU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8536929-5D58-39AC-4A61-A4DB02182526}"/>
              </a:ext>
            </a:extLst>
          </p:cNvPr>
          <p:cNvCxnSpPr>
            <a:cxnSpLocks/>
            <a:stCxn id="4" idx="6"/>
            <a:endCxn id="12" idx="1"/>
          </p:cNvCxnSpPr>
          <p:nvPr/>
        </p:nvCxnSpPr>
        <p:spPr>
          <a:xfrm>
            <a:off x="2238682" y="3429000"/>
            <a:ext cx="1040752" cy="819151"/>
          </a:xfrm>
          <a:prstGeom prst="straightConnector1">
            <a:avLst/>
          </a:prstGeom>
          <a:ln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9A6AA987-F949-CE3A-4CCD-D36A8505F0C1}"/>
              </a:ext>
            </a:extLst>
          </p:cNvPr>
          <p:cNvSpPr/>
          <p:nvPr/>
        </p:nvSpPr>
        <p:spPr>
          <a:xfrm>
            <a:off x="3279434" y="3858839"/>
            <a:ext cx="2175640" cy="778623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Blended Model, Dynamic BAU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7B0939-24C7-D121-6D84-1CD8645F767D}"/>
              </a:ext>
            </a:extLst>
          </p:cNvPr>
          <p:cNvSpPr txBox="1"/>
          <p:nvPr/>
        </p:nvSpPr>
        <p:spPr>
          <a:xfrm>
            <a:off x="5979620" y="130589"/>
            <a:ext cx="55084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BAU: 100% harvest, with common practice % BA removed. Avg over 15 years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5ADBCC-F01B-ADDC-10D8-59CCA9DE4F58}"/>
              </a:ext>
            </a:extLst>
          </p:cNvPr>
          <p:cNvSpPr txBox="1"/>
          <p:nvPr/>
        </p:nvSpPr>
        <p:spPr>
          <a:xfrm>
            <a:off x="8500875" y="661664"/>
            <a:ext cx="417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23232">
                    <a:lumMod val="50000"/>
                    <a:lumOff val="5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E227B6-CA09-2B70-0289-B6B0F82BB843}"/>
              </a:ext>
            </a:extLst>
          </p:cNvPr>
          <p:cNvSpPr txBox="1"/>
          <p:nvPr/>
        </p:nvSpPr>
        <p:spPr>
          <a:xfrm>
            <a:off x="7807575" y="939978"/>
            <a:ext cx="18038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04878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IFM: Grow forward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2E97F4-FE65-2A89-8CA5-01EEB77EA140}"/>
              </a:ext>
            </a:extLst>
          </p:cNvPr>
          <p:cNvSpPr txBox="1"/>
          <p:nvPr/>
        </p:nvSpPr>
        <p:spPr>
          <a:xfrm>
            <a:off x="5812223" y="1786778"/>
            <a:ext cx="5823004" cy="58477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19859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BAU: assumes common practice % BA removed </a:t>
            </a: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19859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and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C19859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%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C19859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harvest likelihood. Avg over 15 years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CBB480-7269-B44B-EF36-05D7202B1BBF}"/>
              </a:ext>
            </a:extLst>
          </p:cNvPr>
          <p:cNvSpPr txBox="1"/>
          <p:nvPr/>
        </p:nvSpPr>
        <p:spPr>
          <a:xfrm>
            <a:off x="8500874" y="2345279"/>
            <a:ext cx="417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23232">
                    <a:lumMod val="50000"/>
                    <a:lumOff val="5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122AD7-C0BA-0440-D5A7-FB021BC8F57E}"/>
              </a:ext>
            </a:extLst>
          </p:cNvPr>
          <p:cNvSpPr txBox="1"/>
          <p:nvPr/>
        </p:nvSpPr>
        <p:spPr>
          <a:xfrm>
            <a:off x="7831937" y="2609339"/>
            <a:ext cx="18038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04878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IFM: Grow forward</a:t>
            </a:r>
          </a:p>
        </p:txBody>
      </p:sp>
      <p:pic>
        <p:nvPicPr>
          <p:cNvPr id="1026" name="Picture 2" descr="Forest Vegetation Simulator (FVS) Software, Complete Package">
            <a:extLst>
              <a:ext uri="{FF2B5EF4-FFF2-40B4-BE49-F238E27FC236}">
                <a16:creationId xmlns:a16="http://schemas.microsoft.com/office/drawing/2014/main" id="{9FFA9635-0960-936B-42A3-3E27861DD4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6516" y="524252"/>
            <a:ext cx="729448" cy="729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Forest Vegetation Simulator (FVS) Software, Complete Package">
            <a:extLst>
              <a:ext uri="{FF2B5EF4-FFF2-40B4-BE49-F238E27FC236}">
                <a16:creationId xmlns:a16="http://schemas.microsoft.com/office/drawing/2014/main" id="{E129D91E-89D7-26A2-1C53-0A21D0D58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6516" y="2221762"/>
            <a:ext cx="729448" cy="729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D446495-0DAA-78AC-AA78-A464A0648319}"/>
              </a:ext>
            </a:extLst>
          </p:cNvPr>
          <p:cNvSpPr txBox="1"/>
          <p:nvPr/>
        </p:nvSpPr>
        <p:spPr>
          <a:xfrm>
            <a:off x="5797986" y="3675059"/>
            <a:ext cx="58230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B587C">
                    <a:lumMod val="60000"/>
                    <a:lumOff val="4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BAU: assumes common practice % BA removed and % harvest likelihood. Fluctuates over 15 years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7DC53C-5491-CE14-8736-65A0C354440B}"/>
              </a:ext>
            </a:extLst>
          </p:cNvPr>
          <p:cNvSpPr txBox="1"/>
          <p:nvPr/>
        </p:nvSpPr>
        <p:spPr>
          <a:xfrm>
            <a:off x="8515110" y="4326639"/>
            <a:ext cx="417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23232">
                    <a:lumMod val="50000"/>
                    <a:lumOff val="5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93B24B-6346-3DEC-1E2B-627C15821C11}"/>
              </a:ext>
            </a:extLst>
          </p:cNvPr>
          <p:cNvSpPr txBox="1"/>
          <p:nvPr/>
        </p:nvSpPr>
        <p:spPr>
          <a:xfrm>
            <a:off x="7821811" y="4603997"/>
            <a:ext cx="18038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04878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IFM: Grow forward</a:t>
            </a:r>
          </a:p>
        </p:txBody>
      </p:sp>
      <p:pic>
        <p:nvPicPr>
          <p:cNvPr id="25" name="Picture 2" descr="Forest Vegetation Simulator (FVS) Software, Complete Package">
            <a:extLst>
              <a:ext uri="{FF2B5EF4-FFF2-40B4-BE49-F238E27FC236}">
                <a16:creationId xmlns:a16="http://schemas.microsoft.com/office/drawing/2014/main" id="{B3A59E6F-3B36-B17D-BC77-03346B3007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76516" y="4215019"/>
            <a:ext cx="729448" cy="729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3127EB2-CDD1-06C4-2AD4-A2204227A09B}"/>
              </a:ext>
            </a:extLst>
          </p:cNvPr>
          <p:cNvSpPr txBox="1"/>
          <p:nvPr/>
        </p:nvSpPr>
        <p:spPr>
          <a:xfrm>
            <a:off x="5661266" y="5451974"/>
            <a:ext cx="622924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E8542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BAU: 10 FIA plots matched with replacement based on Stand Age, Site class code, elevation, slope, relative density of overstory, relative density of understory, forest type, and </a:t>
            </a:r>
            <a:r>
              <a:rPr kumimoji="0" lang="en-US" sz="1400" b="0" i="0" u="none" strike="noStrike" kern="1200" cap="none" spc="0" normalizeH="0" baseline="0" noProof="0" dirty="0" err="1">
                <a:ln>
                  <a:noFill/>
                </a:ln>
                <a:solidFill>
                  <a:srgbClr val="4E8542">
                    <a:lumMod val="75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ecoprovince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4E8542">
                  <a:lumMod val="75000"/>
                </a:srgbClr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91C610-2D36-BC3B-7111-B9CDD1FCE796}"/>
              </a:ext>
            </a:extLst>
          </p:cNvPr>
          <p:cNvSpPr txBox="1"/>
          <p:nvPr/>
        </p:nvSpPr>
        <p:spPr>
          <a:xfrm>
            <a:off x="8515109" y="6112482"/>
            <a:ext cx="41723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323232">
                    <a:lumMod val="50000"/>
                    <a:lumOff val="50000"/>
                  </a:srgb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VS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3C3728-1709-3F8B-1752-9DBF7A3DB982}"/>
              </a:ext>
            </a:extLst>
          </p:cNvPr>
          <p:cNvSpPr txBox="1"/>
          <p:nvPr/>
        </p:nvSpPr>
        <p:spPr>
          <a:xfrm>
            <a:off x="6752057" y="6414831"/>
            <a:ext cx="39244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04878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IFM: Selected plots without a harvest event, measured over time</a:t>
            </a:r>
          </a:p>
        </p:txBody>
      </p:sp>
      <p:pic>
        <p:nvPicPr>
          <p:cNvPr id="1030" name="Picture 6" descr="USFS Forest Inventory and Analysis BigMap Visualization - Large Data  Program Consulting">
            <a:extLst>
              <a:ext uri="{FF2B5EF4-FFF2-40B4-BE49-F238E27FC236}">
                <a16:creationId xmlns:a16="http://schemas.microsoft.com/office/drawing/2014/main" id="{B66936EE-FBF1-D881-AAA1-CC83E779C4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15" t="17194" r="24641" b="18925"/>
          <a:stretch/>
        </p:blipFill>
        <p:spPr bwMode="auto">
          <a:xfrm>
            <a:off x="10676516" y="5937831"/>
            <a:ext cx="811567" cy="95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EBEC2B4-9B09-7BB2-462F-B5333730C8C6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4352123" y="903636"/>
            <a:ext cx="1" cy="917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7A044C3-53F5-0BD8-9880-C165A9D92A92}"/>
              </a:ext>
            </a:extLst>
          </p:cNvPr>
          <p:cNvSpPr txBox="1"/>
          <p:nvPr/>
        </p:nvSpPr>
        <p:spPr>
          <a:xfrm>
            <a:off x="4704708" y="1023185"/>
            <a:ext cx="1425059" cy="51935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Blended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85DD88F-DEDB-EA89-E7AE-024D62390EBE}"/>
              </a:ext>
            </a:extLst>
          </p:cNvPr>
          <p:cNvCxnSpPr>
            <a:cxnSpLocks/>
            <a:stCxn id="9" idx="2"/>
            <a:endCxn id="12" idx="0"/>
          </p:cNvCxnSpPr>
          <p:nvPr/>
        </p:nvCxnSpPr>
        <p:spPr>
          <a:xfrm>
            <a:off x="4352123" y="2599399"/>
            <a:ext cx="15131" cy="12594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ACD6E77-52BB-B9A5-C326-5EC12F24B7FE}"/>
              </a:ext>
            </a:extLst>
          </p:cNvPr>
          <p:cNvSpPr txBox="1"/>
          <p:nvPr/>
        </p:nvSpPr>
        <p:spPr>
          <a:xfrm>
            <a:off x="4667891" y="2843641"/>
            <a:ext cx="1547888" cy="51935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Dynamic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E190CAA-B917-888A-2B58-2CB2350A62A2}"/>
              </a:ext>
            </a:extLst>
          </p:cNvPr>
          <p:cNvCxnSpPr>
            <a:cxnSpLocks/>
            <a:stCxn id="12" idx="2"/>
            <a:endCxn id="10" idx="0"/>
          </p:cNvCxnSpPr>
          <p:nvPr/>
        </p:nvCxnSpPr>
        <p:spPr>
          <a:xfrm flipH="1">
            <a:off x="4352124" y="4637462"/>
            <a:ext cx="15130" cy="12203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9FCEEB6-8CD9-C59F-5B93-540EFD15183E}"/>
              </a:ext>
            </a:extLst>
          </p:cNvPr>
          <p:cNvSpPr txBox="1"/>
          <p:nvPr/>
        </p:nvSpPr>
        <p:spPr>
          <a:xfrm>
            <a:off x="4588576" y="4908946"/>
            <a:ext cx="1657324" cy="51935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Measured</a:t>
            </a:r>
          </a:p>
        </p:txBody>
      </p:sp>
    </p:spTree>
    <p:extLst>
      <p:ext uri="{BB962C8B-B14F-4D97-AF65-F5344CB8AC3E}">
        <p14:creationId xmlns:p14="http://schemas.microsoft.com/office/powerpoint/2010/main" val="3716748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0" grpId="0" animBg="1"/>
      <p:bldP spid="12" grpId="0" animBg="1"/>
      <p:bldP spid="15" grpId="0"/>
      <p:bldP spid="16" grpId="0"/>
      <p:bldP spid="17" grpId="0"/>
      <p:bldP spid="18" grpId="0"/>
      <p:bldP spid="19" grpId="0"/>
      <p:bldP spid="20" grpId="0"/>
      <p:bldP spid="22" grpId="0"/>
      <p:bldP spid="23" grpId="0"/>
      <p:bldP spid="24" grpId="0"/>
      <p:bldP spid="26" grpId="0"/>
      <p:bldP spid="27" grpId="0"/>
      <p:bldP spid="2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147</Words>
  <Application>Microsoft Macintosh PowerPoint</Application>
  <PresentationFormat>Widescreen</PresentationFormat>
  <Paragraphs>21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1_Office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Catherine Chamberlain</dc:creator>
  <cp:lastModifiedBy>Catherine Chamberlain</cp:lastModifiedBy>
  <cp:revision>11</cp:revision>
  <dcterms:created xsi:type="dcterms:W3CDTF">2024-11-14T20:44:51Z</dcterms:created>
  <dcterms:modified xsi:type="dcterms:W3CDTF">2026-02-03T17:07:12Z</dcterms:modified>
</cp:coreProperties>
</file>